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30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9" autoAdjust="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48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2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976D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6F00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y Diseño de Algoritmos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Grafos — Dijkstra, A* y Flujo Máximo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Marks Calderón Niquin  • 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2026-1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LA SESIÓN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BFS y DFS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recorrido en grafos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Dijkstra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más cortos con pesos positivos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A*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heurística informada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Máximo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Ford-Fulkerson y Edmonds-Karp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videojuegos, redes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548640" cy="5029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Dijkstra y A*</a:t>
            </a:r>
            <a:endParaRPr lang="en-US" sz="13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86FA9AA4-D958-46E4-AE74-183AA44B1D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00" r="10176"/>
          <a:stretch/>
        </p:blipFill>
        <p:spPr>
          <a:xfrm>
            <a:off x="4572000" y="1235869"/>
            <a:ext cx="4083052" cy="338042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5DE3E2A7-C535-4D54-B2A9-1F79727CC5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E1D029EF-6BE8-40F3-8BFE-B6F37597DF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19" t="24814" r="10649" b="34445"/>
          <a:stretch/>
        </p:blipFill>
        <p:spPr>
          <a:xfrm>
            <a:off x="8124750" y="3450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sesión, el estudiante podrá: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5166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7589520" cy="548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algoritmo de Dijkstra con cola de prioridad (heap)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9174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7589520" cy="548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A* con heurísticas admisibles para búsqueda informada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3182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7589520" cy="548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y aplicar Ford-Fulkerson y Edmonds-Karp para flujo máximo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7190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005840" y="3566160"/>
            <a:ext cx="7589520" cy="548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complejidad de algoritmos de grafos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11980"/>
            <a:ext cx="228600" cy="2286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7589520" cy="5486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soluciones a problemas de navegación y optimización de redes</a:t>
            </a: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4E1DA54-B985-454C-80A2-F9AE16BBA5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9143771" cy="58293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274320" y="123444"/>
            <a:ext cx="445770" cy="3429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TextBox 3"/>
          <p:cNvSpPr txBox="1"/>
          <p:nvPr/>
        </p:nvSpPr>
        <p:spPr>
          <a:xfrm>
            <a:off x="274320" y="165629"/>
            <a:ext cx="445770" cy="258532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4087"/>
            <a:ext cx="7886700" cy="28161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Lista vs Matriz de adyacencia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" y="4972050"/>
            <a:ext cx="9143771" cy="17145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74320" y="4995417"/>
            <a:ext cx="5486400" cy="131574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675">
                <a:solidFill>
                  <a:srgbClr val="FFFFFF"/>
                </a:solidFill>
                <a:latin typeface="Calibri"/>
              </a:rPr>
              <a:t>ADA Semana 7 — Algoritmos de Grafos · ESAN 2026-1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" y="754380"/>
            <a:ext cx="4114800" cy="377190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480060" y="822960"/>
            <a:ext cx="3771900" cy="258532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1F4E78"/>
                </a:solidFill>
                <a:latin typeface="Calibri"/>
              </a:rPr>
              <a:t>Lista de adyacencia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1234440"/>
            <a:ext cx="3840480" cy="807913"/>
          </a:xfrm>
          <a:prstGeom prst="rect">
            <a:avLst/>
          </a:prstGeom>
          <a:noFill/>
        </p:spPr>
        <p:txBody>
          <a:bodyPr wrap="square" lIns="34290">
            <a:spAutoFit/>
          </a:bodyPr>
          <a:lstStyle/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Espacio: O(V + E). Óptimo para grafos dispersos.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Iterar vecinos de v cuesta O(grado(v)).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Verificar arista (u,v): O(grado(u)).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Es la representación estándar en BFS, DFS, Dijkstra y A*.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" y="2948940"/>
            <a:ext cx="3840480" cy="14401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548640" y="2983230"/>
            <a:ext cx="3703320" cy="981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E8E8E8"/>
                </a:solidFill>
                <a:latin typeface="Consolas"/>
              </a:rPr>
              <a:t>adj = {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 0: [(1,4), (2,1)],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 1: [(3,2)],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 2: [(1,1),(3,8),(4,10)],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 3: [(4,1)],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 4: []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754380"/>
            <a:ext cx="4114800" cy="37719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4800600" y="822960"/>
            <a:ext cx="3771900" cy="258532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1F4E78"/>
                </a:solidFill>
                <a:latin typeface="Calibri"/>
              </a:rPr>
              <a:t>Matriz de adyacencia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234440"/>
            <a:ext cx="3840480" cy="807913"/>
          </a:xfrm>
          <a:prstGeom prst="rect">
            <a:avLst/>
          </a:prstGeom>
          <a:noFill/>
        </p:spPr>
        <p:txBody>
          <a:bodyPr wrap="square" lIns="34290">
            <a:spAutoFit/>
          </a:bodyPr>
          <a:lstStyle/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Espacio: O(V²). Costoso si V es grande.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Acceso a arista (u,v): O(1).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Iterar vecinos de v: O(V).</a:t>
            </a:r>
          </a:p>
          <a:p>
            <a:pPr>
              <a:spcAft>
                <a:spcPts val="300"/>
              </a:spcAft>
            </a:pPr>
            <a:r>
              <a:rPr sz="975">
                <a:solidFill>
                  <a:srgbClr val="333333"/>
                </a:solidFill>
                <a:latin typeface="Calibri"/>
              </a:rPr>
              <a:t>•  Ideal en grafos densos y en Edmonds-Karp.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948940"/>
            <a:ext cx="3840480" cy="14401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4869180" y="2983230"/>
            <a:ext cx="3703320" cy="981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25">
                <a:solidFill>
                  <a:srgbClr val="E8E8E8"/>
                </a:solidFill>
                <a:latin typeface="Consolas"/>
              </a:rPr>
              <a:t>M = [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[0,   4,   1, INF, INF],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[INF, 0, INF,   2, INF],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[INF, 1,   0,   8,  10],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[INF,INF,INF,   0,   1],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 [INF,INF,INF, INF,   0]</a:t>
            </a:r>
          </a:p>
          <a:p>
            <a:r>
              <a:rPr sz="825">
                <a:solidFill>
                  <a:srgbClr val="E8E8E8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6F00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REPASO: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 Y DFS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recorrido en grafos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B03F5F8-6B9E-4046-A368-CAA71FE275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REPRESENTACIÓN DE GRAFOS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28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Adyacencia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O(V + 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vecinos: O(grado(v))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grafos dispersos.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adj[0] = [(1,4), (2,1)]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adj[1] = [(3,2)]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228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Adyacencia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O(V²)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arista (u,v): O(1)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grafos densos.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0  1  2  3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[ 0  4  1  ∞]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[ ∞  0  ∞  2]...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usar?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Lista de adyacencia: Para la mayoría de aplicaciones (grafos dispersos, E &lt;&lt; V²)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Matriz de adyacencia: Cuando necesitamos consultar rápidamente si existe arista (u,v)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esta clase usaremos principalmente lista de adyacencia</a:t>
            </a:r>
            <a:endParaRPr lang="en-US" sz="14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5939659-7182-4103-A825-01E83140F7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BFS: BREADTH-FIRST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el grafo nivel por nivel usando una cola (FIFO).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camino más corto en grafos no ponderados (número de aristas).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199" y="2011679"/>
            <a:ext cx="5378883" cy="3002447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542609" y="2103120"/>
            <a:ext cx="5195000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bfs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PE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b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.popleft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b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.append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0" name="Shape 18"/>
          <p:cNvSpPr/>
          <p:nvPr/>
        </p:nvSpPr>
        <p:spPr>
          <a:xfrm>
            <a:off x="6018962" y="2011680"/>
            <a:ext cx="2667837" cy="274320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159456" y="2103120"/>
            <a:ext cx="234446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59456" y="2423160"/>
            <a:ext cx="2344463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Tiempo: O(V + 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Espacio: O(V)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</a:t>
            </a: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</a:t>
            </a:r>
            <a:r>
              <a:rPr lang="en-US" sz="1100" dirty="0"/>
              <a:t> </a:t>
            </a:r>
            <a:r>
              <a:rPr lang="en-US" sz="11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corto </a:t>
            </a:r>
            <a:r>
              <a:rPr lang="en-US" sz="11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ponderados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Usa: Cola (FIFO)</a:t>
            </a:r>
            <a:endParaRPr lang="en-US" sz="11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2701213-0532-4319-85FB-14528ACDA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DFS: DEPTH-FIRST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el grafo en profundidad usando una pila (LIFO) o recursión.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detección de ciclos, ordenamiento topológico, componentes conexas.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237744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5669280" y="2011680"/>
            <a:ext cx="3017520" cy="237744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585216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DFS: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24231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Cola (FIFO)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Nivel por nivel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Camino más corto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DFS: Pila (LIFO)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profundidad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Detección de ciclos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Topological sort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tienen complejidad O(V + E). La elección depende del problema específico.</a:t>
            </a:r>
            <a:endParaRPr lang="en-US" sz="12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59CAAD89-1C19-4000-8CDA-656AD8C38E82}"/>
              </a:ext>
            </a:extLst>
          </p:cNvPr>
          <p:cNvSpPr/>
          <p:nvPr/>
        </p:nvSpPr>
        <p:spPr>
          <a:xfrm>
            <a:off x="542609" y="2103120"/>
            <a:ext cx="4873453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dfs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s-P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LIFO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D0FD872-5872-44B9-BF26-BCED1E7400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F572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DE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más cortos con pesos positivos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529F79A-A2CB-42B2-9428-7C1771AC4D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DIJKSTRA: 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 (SSSP)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grafo ponderado G = (V, E) con pesos no negativos y un vértice fuente s, encontrar la distancia mínima desde s hasta todos los demás vértices.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 de Dijkstra (1959):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7498080" cy="411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 conjunto S de vértices cuya distancia final ya conocemos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7498080" cy="411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paso, agregar a S el vértice más cercano fuera de 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48640" y="3721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611880"/>
            <a:ext cx="7498080" cy="4114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las distancias de los vecinos del vértice agregado (relajación)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RESTRICCIÓN IMPORTANTE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solo funciona con pesos NO NEGATIVOS. Para pesos negativos, usar Bellman-Ford.</a:t>
            </a:r>
            <a:endParaRPr lang="en-US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7D5A223-83ED-4EEE-A8DD-821A5E4F37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DIJKSTRA: ALGORITMO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68140"/>
            <a:ext cx="8229600" cy="393192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40080" y="1068140"/>
            <a:ext cx="7863840" cy="387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dijkstra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PE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s-PE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PE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s-PE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  </a:t>
            </a:r>
            <a:r>
              <a:rPr lang="es-PE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(distancia, nodo)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heapq.heappop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s-PE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Extraer mínimo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  </a:t>
            </a:r>
            <a:r>
              <a:rPr lang="es-PE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Relajación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s-PE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heapq.heappush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s-PE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s-PE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D75E15E-6EB3-4CF0-A620-4FB7F07D4E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DIJKSTRA: EJEMPLO PASO A PASO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85894"/>
            <a:ext cx="8229600" cy="653897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0104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Grafo: A→B(4), A→C(2), B→C(1), B→D(5), C→B(1), C→D(8), D→E(1), C→E(10)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19751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A   |   Encontrar distancia mínima a todos los nodos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7106"/>
            <a:ext cx="73152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11480" y="181197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97280" y="1757106"/>
            <a:ext cx="73152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143000" y="181197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1757106"/>
            <a:ext cx="320040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874520" y="181197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después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757106"/>
            <a:ext cx="384048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074920" y="181197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Distancias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16858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11480" y="222345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216858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1143000" y="222345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2168586"/>
            <a:ext cx="32004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874520" y="222345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[(0,A)]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168586"/>
            <a:ext cx="384048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074920" y="222345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B:∞, C:∞, D:∞, E:∞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58006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11480" y="263493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97280" y="258006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1143000" y="263493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0" y="258006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1874520" y="263493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[(2,C), (4,B)]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258006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074920" y="263493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B:4, C:2, D:∞, E:∞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99154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411480" y="304641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97280" y="299154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1143000" y="304641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0" y="2991546"/>
            <a:ext cx="32004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1874520" y="304641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[(3,B), (4,B), (10,D), (12,E)]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0" y="2991546"/>
            <a:ext cx="384048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5074920" y="304641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B:3, C:2, D:10, E:12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40302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411480" y="345789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97280" y="340302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1143000" y="345789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28800" y="340302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2"/>
          <p:cNvSpPr/>
          <p:nvPr/>
        </p:nvSpPr>
        <p:spPr>
          <a:xfrm>
            <a:off x="1874520" y="345789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[(4,B), (8,D), (10,D), (12,E)]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0" y="340302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4"/>
          <p:cNvSpPr/>
          <p:nvPr/>
        </p:nvSpPr>
        <p:spPr>
          <a:xfrm>
            <a:off x="5074920" y="34578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B:3, C:2, D:8, E:12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81450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411480" y="386937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097280" y="3814506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8"/>
          <p:cNvSpPr/>
          <p:nvPr/>
        </p:nvSpPr>
        <p:spPr>
          <a:xfrm>
            <a:off x="1143000" y="386937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828800" y="3814506"/>
            <a:ext cx="32004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50"/>
          <p:cNvSpPr/>
          <p:nvPr/>
        </p:nvSpPr>
        <p:spPr>
          <a:xfrm>
            <a:off x="1874520" y="386937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[(9,E), (10,D), (12,E)]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0" y="3814506"/>
            <a:ext cx="384048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Text 52"/>
          <p:cNvSpPr/>
          <p:nvPr/>
        </p:nvSpPr>
        <p:spPr>
          <a:xfrm>
            <a:off x="5074920" y="386937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B:3, C:2, D:8, E:9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22598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6" name="Text 54"/>
          <p:cNvSpPr/>
          <p:nvPr/>
        </p:nvSpPr>
        <p:spPr>
          <a:xfrm>
            <a:off x="411480" y="428085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97280" y="422598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Text 56"/>
          <p:cNvSpPr/>
          <p:nvPr/>
        </p:nvSpPr>
        <p:spPr>
          <a:xfrm>
            <a:off x="1143000" y="428085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828800" y="422598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0" name="Text 58"/>
          <p:cNvSpPr/>
          <p:nvPr/>
        </p:nvSpPr>
        <p:spPr>
          <a:xfrm>
            <a:off x="1874520" y="428085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29200" y="422598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60"/>
          <p:cNvSpPr/>
          <p:nvPr/>
        </p:nvSpPr>
        <p:spPr>
          <a:xfrm>
            <a:off x="5074920" y="428085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A:0, B:3, C:2, D:8, E:9 ✓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94360" y="4709160"/>
            <a:ext cx="8229600" cy="32004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4" name="Text 62"/>
          <p:cNvSpPr/>
          <p:nvPr/>
        </p:nvSpPr>
        <p:spPr>
          <a:xfrm>
            <a:off x="77724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Resultado: dist[A]=0, dist[B]=3, dist[C]=2, dist[D]=8, dist[E]=9</a:t>
            </a:r>
            <a:endParaRPr lang="en-US" sz="1200" dirty="0"/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721788B4-E483-4364-A808-9A42A0D0B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DIJKSTRA: ANÁLISIS DE COMPLEJIDAD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28600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210312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743200" y="1298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137160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846320" y="1298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217920" y="1298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22860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simple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1737360"/>
            <a:ext cx="210312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274320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O(V²)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3716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846320" y="18470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737360"/>
            <a:ext cx="27432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217920" y="1847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mínimo en O(V)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22860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743200" y="2395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 log V)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2860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21792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la práctica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22860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57200" y="2944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Heap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2834640"/>
            <a:ext cx="210312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274320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log V + 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834640"/>
            <a:ext cx="13716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4846320" y="2944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743200" cy="50292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6217920" y="2944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teórico, complejo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Binary Heap?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640080" y="39319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Inserción: O(log V)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Extraer mínimo: O(log V)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Decrease-key: O(log V) — en Python usamos inserción duplicada</a:t>
            </a:r>
            <a:endParaRPr lang="en-US" sz="1300" dirty="0"/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grafos dispersos (E ≈ V), Binary Heap da O(V log V), mucho mejor que O(V²).</a:t>
            </a:r>
            <a:endParaRPr lang="en-US" sz="13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06830E19-1B8F-44EB-8BD1-6A431604F7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1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6F00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203793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heurística informada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B77807-1ED7-4CC1-8B24-B19860333F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BÚSQUEDA INFORMADA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(Hart, Nilsson, Raphael, 1968)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Dijkstra con una heurística para guiar la búsqueda hacia el objetivo. Es el algoritmo estándar en GPS, videojuegos y planificación de rutas.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evaluación: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f(n) = g(n) + h(n)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 = costo real desde inicio hasta n  |  h(n) = estimación (heurística) desde n hasta objetivo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Dijkstra: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Dijkstra: Explora en todas direcciones (no tiene objetivo específico)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A*: Usa h(n) para priorizar nodos que parecen más prometedores hacia el objetivo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A* expande menos nodos que Dijkstra cuando la heurística es buena</a:t>
            </a:r>
            <a:endParaRPr lang="en-US" sz="1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4A90507-687F-459E-9194-B1100032C2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HEURÍSTICAS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Admisible: h(n) ≤ costo real desde n hasta objetivo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 es admisible, A* garantiza encontrar el camino óptimo.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comunes: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023360" cy="13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023360" cy="41148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Manhattan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|x₁-x₂| + |y₁-y₂|</a:t>
            </a:r>
            <a:endParaRPr lang="en-US" sz="14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movimiento en grilla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(arriba, abajo, izq, der)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023360" cy="1371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4023360" cy="41148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Euclidiana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√((x₁-x₂)² + (y₁-y₂)²)</a:t>
            </a:r>
            <a:endParaRPr lang="en-US" sz="14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movimiento libre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(cualquier dirección)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heurística: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9217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h(n) = 0: A* se convierte en Dijkstra (explora todo)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h(n) = costo real: A* encuentra el camino directamente (óptimo pero imposible en la práctica)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 h(n): Más cercano al costo real sin sobrestimarlo → Menos nodos expandidos</a:t>
            </a:r>
            <a:endParaRPr lang="en-US" sz="13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C3931D5-B8F4-4C2D-B5B6-DD6AD6A3A1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ALGORITMO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309360" y="1005840"/>
            <a:ext cx="2377440" cy="256032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49224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Dijkstra: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14173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Tiene un goal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Usa f = g + h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 de solo 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Termina al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</a:t>
            </a: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goal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</a:t>
            </a: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dirty="0"/>
              <a:t> </a:t>
            </a:r>
            <a:r>
              <a:rPr lang="en-US" sz="1200" dirty="0" err="1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</a:t>
            </a:r>
            <a:endParaRPr lang="en-US" sz="12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319B99D5-1991-424F-8A74-26095E3B27F2}"/>
              </a:ext>
            </a:extLst>
          </p:cNvPr>
          <p:cNvSpPr/>
          <p:nvPr/>
        </p:nvSpPr>
        <p:spPr>
          <a:xfrm>
            <a:off x="457200" y="1097280"/>
            <a:ext cx="5591908" cy="353501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r>
              <a:rPr lang="es-PE" sz="13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dijkstra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PE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3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s-P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[(</a:t>
            </a:r>
            <a:r>
              <a:rPr lang="es-P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  </a:t>
            </a:r>
            <a:r>
              <a:rPr lang="es-P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(distancia, nodo)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heapq.heappop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s-P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Extraer mínimo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PE" sz="13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P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  </a:t>
            </a:r>
            <a:r>
              <a:rPr lang="es-P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Relajación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3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heapq.heappush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pq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s-PE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33669F08-43DF-4162-B63A-793A328ED9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EJEMPLO EN GRILLA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camino de S a G en una grilla 5x5 con obstáculos (■)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0   1   2   3   4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S   .   .   ■   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.   ■   .   ■   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.   ■   .   .   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.   .   .   ■   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.   .   .   .   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Manhattan: |x-4| + |y-4|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 movimiento: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4389120" cy="274320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48056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A*: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78308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Inicio S(0,0): g=0, h=8, f=8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Expandir S → vecinos (0,1) y (1,0)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(0,1): g=1, h=7, f=8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(1,0): g=1, h=7, f=8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Elegir el de menor f...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Continuar hasta llegar a 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Camino encontrado con costo = 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expande menos nodos que Dijkstra porque la heurística lo guía hacia el objetivo.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exploraría en círculos desde S; A* se enfoca en la dirección de G.</a:t>
            </a:r>
            <a:endParaRPr lang="en-US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45E501A-50B7-4C21-87A6-4B6CFCDDB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APLICACIONES EN EL MUNDO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y Navegación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8132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Waze, sistemas de navegación de autos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585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de NPCs, Age of Empires, StarCraft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de robots autónomos, drones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81304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8-puzzle, 15-puzzle, Rubik's cube solvers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59028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rutas de delivery, Amazon</a:t>
            </a:r>
            <a:endParaRPr lang="en-US" sz="12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1369620-119C-43DD-AF0A-23CC38BDC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6F00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MÁXIMO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Ford-Fulkerson y Edmonds-Karp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B90347-3562-4F18-8A43-0600EDB004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MÁXIMO: 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Flow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grafo dirigido G = (V, E) con capacidades en las aristas, una fuente s y un sumidero t, encontrar el flujo máximo que puede pasar de s a t respetando las capacidades.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flujo: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8229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Restricción de capacidad: 0 ≤ f(u,v) ≤ c(u,v) para toda arista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Conservación de flujo: Para todo nodo excepto s y t, flujo entrante = flujo saliente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 valor del flujo es lo que sale de s (o entra a 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 de computadoras (ancho de banda máximo)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 de transporte (capacidad de carreteras)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Bipartite matching (asignación de tareas)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Corte mínimo (Max-Flow Min-Cut Theorem)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9132229-B00F-42AC-94CB-935DD0DB8A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FORD-FULKERSON: IDEA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central: Encontrar caminos aumentantes (augmenting paths) y enviar flujo por ellos hasta que no queden más caminos.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3604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del algoritmo: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40180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flujo en 0 para todas las aristas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6756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exista un camino de s a t en el grafo residual: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3332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a) Encontrar la capacidad mínima del camino (bottleneck)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9908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b) Aumentar el flujo por el camino en esa cantidad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6484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c) Actualizar el grafo residual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30607"/>
            <a:ext cx="7863840" cy="3200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el flujo total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Residual: Para cada arista (u,v) con capacidad c y flujo f, existe arista residual (u,v) con capacidad c-f y arista inversa (v,u) con capacidad f.</a:t>
            </a:r>
            <a:endParaRPr lang="en-US" sz="1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CF318C6-C4FB-4D58-A566-A770C6291C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EDMONDS-KARP: FORD-FULKERSON + BFS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 (1972): Usar BFS para encontrar el camino aumentante más corto.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garantiza complejidad O(VE²) independiente de las capacidades.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292608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edmonds_karp(graph, s, t):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max_flow =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BFS para encontrar camino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path, flow = bfs_path(graph, s, 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flow == 0: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1129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  # No hay más caminos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3075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max_flow += 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502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Actualizar grafo residual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update_residual(graph, path, flow)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2560320" cy="1828800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× E²)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 para matriz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 para lista</a:t>
            </a:r>
            <a:endParaRPr lang="en-US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8EAC9DB-3859-457C-9CC1-C7C416E927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MÁXIMO: EJEMPLO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1628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con capacidades: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 (10)    A → B (4)     A → C (8)    B → T (10)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C (10)    C → B (9)     C → T (10)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16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44752" y="2547684"/>
            <a:ext cx="73152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517904" y="2620836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2547684"/>
            <a:ext cx="228600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2249424" y="262083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62272" y="2547684"/>
            <a:ext cx="137160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535424" y="262083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3872" y="2547684"/>
            <a:ext cx="182880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907024" y="262083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acumulado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44752" y="2959164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517904" y="3032316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76272" y="2959164"/>
            <a:ext cx="22860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249424" y="303231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 → B → 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62272" y="2959164"/>
            <a:ext cx="13716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35424" y="303231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33872" y="2959164"/>
            <a:ext cx="18288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907024" y="303231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44752" y="3370644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1517904" y="3443796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76272" y="337064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2249424" y="344379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A → C → 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2272" y="33706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535424" y="344379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33872" y="33706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907024" y="344379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444752" y="3782124"/>
            <a:ext cx="73152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1517904" y="3855276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76272" y="3782124"/>
            <a:ext cx="22860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2249424" y="385527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C → 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62272" y="3782124"/>
            <a:ext cx="13716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4535424" y="385527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33872" y="3782124"/>
            <a:ext cx="182880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5907024" y="385527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44752" y="4193604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1517904" y="4266756"/>
            <a:ext cx="585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76272" y="419360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2249424" y="4266756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hay más caminos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62272" y="419360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4535424" y="4266756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33872" y="419360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Text 45"/>
          <p:cNvSpPr/>
          <p:nvPr/>
        </p:nvSpPr>
        <p:spPr>
          <a:xfrm>
            <a:off x="5907024" y="4266756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✓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Máximo = 20</a:t>
            </a:r>
            <a:endParaRPr lang="en-US" sz="1400" dirty="0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2A3C72CD-31F1-4D1E-9B1C-BEE6D2396C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TEOREMA MAX-FLOW MIN-CUT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(Ford-Fulkerson, 1956):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del flujo máximo en una red es igual a la capacidad del corte mínimo que separa la fuente s del sumidero 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corte?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corte (S, T) es una partición de V donde s ∈ S y t ∈ 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del corte es la suma de capacidades de aristas de S a 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del Min-Cut: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Seguridad de redes: encontrar el punto más vulnerable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Segmentación de imágenes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de redes sociales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32AFAB9-A4BF-4172-B04B-BF2EA23E5B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ALGORITMOS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45720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93192" y="11887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097280"/>
            <a:ext cx="2926080" cy="45720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404872" y="11887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1097280"/>
            <a:ext cx="1828800" cy="45720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330952" y="118872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Complejidad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097280"/>
            <a:ext cx="1737360" cy="45720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159752" y="118872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negativos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00200"/>
            <a:ext cx="20116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93192" y="169164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600200"/>
            <a:ext cx="29260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2404872" y="169164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corto (no ponderado)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600200"/>
            <a:ext cx="182880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330952" y="16916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O(V+E)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1600200"/>
            <a:ext cx="173736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159752" y="169164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10312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93192" y="219456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10312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404872" y="219456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SSSP (pesos positivos)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210312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330952" y="219456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O((V+E)logV)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86600" y="210312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7159752" y="219456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20116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93192" y="26974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2606040"/>
            <a:ext cx="29260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2404872" y="269748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s→t con heurística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57800" y="2606040"/>
            <a:ext cx="182880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5330952" y="2697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O(E) best case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86600" y="2606040"/>
            <a:ext cx="173736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7159752" y="269748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1089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393192" y="320040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Bellman-Ford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31720" y="310896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2404872" y="320040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SSSP (cualquier peso)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57800" y="31089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5330952" y="32004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86600" y="310896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7159752" y="320040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611880"/>
            <a:ext cx="20116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393192" y="37033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Ford-Fulkerson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31720" y="3611880"/>
            <a:ext cx="292608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Text 45"/>
          <p:cNvSpPr/>
          <p:nvPr/>
        </p:nvSpPr>
        <p:spPr>
          <a:xfrm>
            <a:off x="2404872" y="370332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máximo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57800" y="3611880"/>
            <a:ext cx="182880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5330952" y="370332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× max_flow)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86600" y="3611880"/>
            <a:ext cx="1737360" cy="45720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49"/>
          <p:cNvSpPr/>
          <p:nvPr/>
        </p:nvSpPr>
        <p:spPr>
          <a:xfrm>
            <a:off x="7159752" y="370332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0040" y="41148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393192" y="420624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Edmonds-Karp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31720" y="411480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2404872" y="4206240"/>
            <a:ext cx="2779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máximo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57800" y="41148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7" name="Text 55"/>
          <p:cNvSpPr/>
          <p:nvPr/>
        </p:nvSpPr>
        <p:spPr>
          <a:xfrm>
            <a:off x="5330952" y="4206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O(VE²)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86600" y="411480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7"/>
          <p:cNvSpPr/>
          <p:nvPr/>
        </p:nvSpPr>
        <p:spPr>
          <a:xfrm>
            <a:off x="7159752" y="4206240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1" name="Text 59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algoritmo correcto según el problema específico y las características del grafo.</a:t>
            </a:r>
            <a:endParaRPr lang="en-US" sz="1200" b="1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A37FCF05-CC6A-4FE4-AAE4-3E758554BE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F572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10933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TALLER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PRÁCTICO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Dijkstra y A*</a:t>
            </a:r>
            <a:endParaRPr lang="en-US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8886EE4-9FAF-4EEA-8CAC-0104BBA92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1: DIJKSTRA - MAPA DE CIUDADES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37160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Grafo de ciudades con distancias en km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Lima → Ica (303)      Lima → Huancayo (299)    Lima → Cusco (1105)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 → Arequipa (700)  Huancayo → Cusco (585)   Cusco → Arequipa (485)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Arequipa → Puno (299) Cusco → Puno (390)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Implemente Dijkstra para encontrar la ruta más corta de Lima a Puno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Muestre el orden en que se visitan las ciudades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¿Cuál es la distancia total del camino óptimo?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¿Qué ciudades forman el camino óptimo?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01FC1A-195C-40C4-868B-31A61A4042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2: A* - NAVEGACIÓN EN GRILLA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6510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A* para navegar en una grilla 10x10 con obstáculos: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0866"/>
            <a:ext cx="8229600" cy="128016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62230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(0, 0)    Goal: (9, 9)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9662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Obstáculos: (2,2), (2,3), (2,4), (3,2), (5,5), (5,6), (6,5), (7,7), (7,8)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7094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Movimientos permitidos: 4 direcciones (arriba, abajo, izquierda, derecha)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4526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 por movimiento: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4818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68226"/>
            <a:ext cx="7863840" cy="1005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Implemente con heurística Manhattan: h = |x₁-x₂| + |y₁-y₂|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Cuente cuántos nodos se expanden hasta encontrar el camino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Compare con Dijkstra (h=0): ¿Cuántos nodos expande Dijkstra?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Visualice el camino encontrado en la grilla</a:t>
            </a:r>
            <a:endParaRPr lang="en-US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7858366-CB5F-4988-B642-3787FFF66C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3: FLUJO MÁXIMO - RED DE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115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tiene la siguiente red de servidores con ancho de banda (Gbps):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7340"/>
            <a:ext cx="8229600" cy="118872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6687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Fuente(S) → A(16), S → B(13)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431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B(10), A → C(12)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74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C(9), B → D(14)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917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→ D(7), C → Sumidero(T)(20), D → T(4)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032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23260"/>
            <a:ext cx="7863840" cy="1005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Implemente Edmonds-Karp para encontrar el flujo máximo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Muestre cada camino aumentante encontrado y su bottleneck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¿Cuál es el flujo máximo de S a 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Identifique el corte mínimo</a:t>
            </a:r>
            <a:endParaRPr lang="en-US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CC912F3-B08F-400B-9354-307608CC64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BIBLIOGRAFÍA DE LA SEMANA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CLRS. Cap. 22-26 (Grafos y Flujo Máximo).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938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Dijkstra, Ford-Fulkerson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Sedgewick, R. &amp; Wayne, K. (2011). Algorithms. Part 5.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7157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Russell, S. &amp; Norvig, P. (2020). AI: A Modern Approach. Cap. 3.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493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y búsqueda heurística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Complementario: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Visualización de Dijkstra: https://visualgo.net/en/sssp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A* Tutorial: https://www.redblobgames.com/pathfinding/a-star/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Flow visualization: https://visualgo.net/en/maxflow</a:t>
            </a:r>
            <a:endParaRPr lang="en-US" sz="10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4FEB2A4-D343-4F41-AA88-F07001BF3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976D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6F00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Y PRÓXIMOS PASOS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aprendimos: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BFS y DFS (repaso)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Dijkstra con heap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A* y heurísticas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Ford-Fulkerson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Edmonds-Karp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semana: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EXAMEN PARCIAL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Bloques 1 y 2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Análisis Asintótico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DP, Greedy, Grafos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Sesión de repaso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Tareas para la próxima clase: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Completar ejercicios del taller (Dijkstra, A*, Flujo Máximo)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ENTREGA: Trabajo Grupal 2 - Diseño de solución a problema de optimización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Práctica calificada 01 esta semana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Prepararse para el EXAMEN PARCIAL (Semana 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Marks Calderón Niquin  •  mcalderon@esan.edu.pe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5BF9A9D-35EC-414E-8119-B74B22D615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DIJKSTRA: ¿POR QUÉ FUNCIONA?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subestructura óptima: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camino más corto de s a v pasa por u, entonces el subcamino de s a u también es el camino más corto de s a u.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greedy (elección voraz):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extraemos el nodo u con menor distancia de la cola de prioridad, su distancia ya es final (óptima). No hay forma de encontrar un camino más corto después.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solo funciona con pesos NO NEGATIVOS. Con pesos negativos, podríamos encontrar un atajo después.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esto Dijkstra es un algoritmo greedy: en cada paso toma la decisión localmente óptima (el nodo más cercano) y esta resulta ser globalmente óptima.</a:t>
            </a:r>
            <a:endParaRPr lang="en-US" sz="13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B87E67C-CBA6-47A0-B9AB-98C8E263E0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CONCEPTO: RELAJACIÓN DE ARISTAS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Relajación (Relaxation):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encontramos un camino más corto a v pasando por u, actualizamos la distancia de v.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8016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3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relax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s-P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Encontramos camino más corto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   </a:t>
            </a:r>
            <a:r>
              <a:rPr lang="es-P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Guardar predecesor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endParaRPr lang="es-P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visual: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dist[v] = 10 (camino directo s → v)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relajar (u,v): dist[v] = 7 (camino s → u → v es más corto)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relajación es la operación fundamental en Dijkstra, Bellman-Ford y A*.</a:t>
            </a:r>
            <a:endParaRPr lang="en-US" sz="1200" b="1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E959E7C-23FA-4A93-850E-B5B129DB10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A*: PROPIEDADES Y GARANTÍAS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Admisibilidad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≤ h*(n)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heurística nunca sobrestima el costo real.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optimalidad: A* encuentra el camino más corto.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(Monotonía)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≤ c(n,n') + h(n')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heurística satisface la desigualdad triangular.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eficiencia: no revisitamos nodos.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Optimalidad: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solidFill>
            <a:srgbClr val="BBDEFB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 es admisible, A* es óptimo (encuentra el camino más corto).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 es consistente, A* es óptimamente eficiente (expande el mínimo de nodos necesarios).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Manhattan y Euclidiana son admisibles y consistentes para navegación en grillas.</a:t>
            </a:r>
            <a:endParaRPr lang="en-US" sz="1200" b="1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BEBDEE8-6B13-4BAA-BF39-AC1176CC1F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 VS DIJKSTRA: VISUALIZACIÓN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2743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(h = 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en círculos concéntricos desde el origen.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todas las direcciones por igual.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dónde está el objetivo.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muchos nodos innecesarios.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2743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(h = Manhattan/Euclidiana)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preferentemente hacia el objetivo.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nodos prometedores.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la dirección del objetivo.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menos nodos (más eficiente).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109728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laberinto típico: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Dijkstra: puede expandir miles de nodos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A* con buena heurística: expande solo cientos de nodos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Ambos encuentran el camino óptimo, pero A* es mucho más rápido</a:t>
            </a:r>
            <a:endParaRPr lang="en-US" sz="1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29686E3-8DEA-4E64-A393-E9FFAFAAA5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MÁXIMO: GRAFO RESIDUAL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residual permite "deshacer" flujo enviado previamente.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2011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Original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→ 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c =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actual: f = 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usada: 6/10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2011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Residual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→ v (capacidad: c - f = 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Podemos enviar 4 más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→ u (capacidad: f = 6)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Podemos "devolver" hasta 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aristas inversas?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100584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veces, la primera elección de camino no es óptima. Las aristas inversas permiten "corregir" decisiones anteriores, redirigiendo flujo por caminos mejores.</a:t>
            </a:r>
            <a:endParaRPr lang="en-US" sz="13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1DF58EF-B256-4C7C-AD92-5EDDCD3EF8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APLICACIÓN: BIPARTITE MATCHING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Bipartite Matching: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grafo bipartito (dos conjuntos de nodos, aristas solo entre conjuntos), encontrar el máximo número de pares que se pueden emparejar.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Asignar trabajos a empleados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Empleados: {Alice, Bob, Carol}    Trabajos: {Java, Python, Web}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puede: Java, Python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puede: Java, Web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Carol puede: Python, Web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con Max Flow: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fuente S conectada a todos los empleados y sumidero T conectado a todos los trabajos. Todas las aristas con capacidad 1. El flujo máximo = matching máximo.</a:t>
            </a:r>
            <a:endParaRPr lang="en-US" sz="12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C134BA9-229A-4E92-A270-7700318FD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4: RECUPERAR EL CAMINO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Modifique su implementación de Dijkstra para que además de la distancia mínima, retorne el camino completo.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1554479"/>
            <a:ext cx="7863840" cy="146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s-MX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Hint</a:t>
            </a:r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Mantener un diccionario de predecesores</a:t>
            </a:r>
            <a:endParaRPr lang="es-MX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  </a:t>
            </a:r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s-MX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[v] = nodo desde el cual llegamos a v</a:t>
            </a:r>
            <a:endParaRPr lang="es-MX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En la relajación:</a:t>
            </a:r>
            <a:endParaRPr lang="es-MX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[u] </a:t>
            </a:r>
            <a:r>
              <a:rPr lang="es-MX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[v]:</a:t>
            </a:r>
          </a:p>
          <a:p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[v] </a:t>
            </a:r>
            <a:r>
              <a:rPr lang="es-MX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u  </a:t>
            </a:r>
            <a:r>
              <a:rPr lang="es-MX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Guardamos de dónde venimos</a:t>
            </a:r>
            <a:endParaRPr lang="es-MX" sz="1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Implemente la función reconstruct_path(prev, target)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Pruebe con el grafo del Ejercicio 1 (ciudades de Perú)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Retorne tanto la distancia como la lista de ciudades en orden</a:t>
            </a:r>
            <a:endParaRPr lang="en-US" sz="12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045BC01-40F0-4DD0-AB15-9D827820DA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5: HEURÍSTICAS PARA A*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el rendimiento de A* con diferentes heurísticas en la misma grilla: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Heurísticas a comparar: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 = 0                                    # Dijkstra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= |x1-x2| + |y1-y2|                    # Manhattan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= sqrt((x1-x2)² + (y1-y2)²)            # Euclidiana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 = max(|x1-x2|, |y1-y2|)                # Chebyshev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heurística, registre: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Número de nodos expandidos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Longitud del camino encontrado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¿Todas encuentran el camino óptimo? ¿Por qué?</a:t>
            </a:r>
            <a:endParaRPr lang="en-US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4591809-7285-4D98-83F8-1A95A4EEF8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BELLMAN-FORD: PESOS NEGATIVOS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Dijkstra no funciona (pesos negativos), usamos Bellman-Ford.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detecta ciclos negativos (caminos cuyo costo disminuye infinitamente).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2120202"/>
            <a:ext cx="7863840" cy="2170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P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bellman_ford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graph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PE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inf</a:t>
            </a:r>
            <a:r>
              <a:rPr lang="es-P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    </a:t>
            </a:r>
            <a:r>
              <a:rPr lang="es-P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V-1 iteraciones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s-P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Relajar todas las aristas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P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Detectar ciclos negativos (iteración extra)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PE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P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P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</a:t>
            </a:r>
            <a:endParaRPr lang="es-P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O(VE) — más lento que Dijkstra pero más general.</a:t>
            </a:r>
            <a:endParaRPr lang="en-US" sz="13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E862414-25CC-435E-A0FD-815004D86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 DE GRAFOS EN LA INDUSTRIA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2573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2573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 + heurísticas de tráfico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GPS en tiempo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18973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Uber/Lyft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18973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modificado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conductor-pasajero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25374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25374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Máximo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de entrega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1775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31775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en grafos de usuarios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recomendación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40080" y="38176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38176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BFS/DFS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conexión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40080" y="44577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377440" y="44577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(OSPF)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389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 redes</a:t>
            </a:r>
            <a:endParaRPr lang="en-US" sz="1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320EE42A-7F09-4D1D-90A3-9BFFDF58F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DE COMPLEJIDADES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9096"/>
            <a:ext cx="2011680" cy="484632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93192" y="11688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059096"/>
            <a:ext cx="1828800" cy="484632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404872" y="1168824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059096"/>
            <a:ext cx="1188720" cy="484632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233672" y="1168824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1059096"/>
            <a:ext cx="3474720" cy="484632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422392" y="116882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9448"/>
            <a:ext cx="201168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93192" y="169917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1589448"/>
            <a:ext cx="182880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2404872" y="1699176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O(V+E)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589448"/>
            <a:ext cx="1188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233672" y="1699176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49240" y="1589448"/>
            <a:ext cx="3474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5422392" y="169917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más corto no ponderado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119800"/>
            <a:ext cx="20116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93192" y="222952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2119800"/>
            <a:ext cx="18288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404872" y="2229528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O(V+E)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60520" y="2119800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233672" y="2229528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2119800"/>
            <a:ext cx="3474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422392" y="2229528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Exploración, ciclos, toposort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650152"/>
            <a:ext cx="201168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93192" y="275988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(heap)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2650152"/>
            <a:ext cx="182880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2404872" y="27598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O((V+E)logV)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60520" y="2650152"/>
            <a:ext cx="1188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4233672" y="275988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49240" y="2650152"/>
            <a:ext cx="3474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5422392" y="275988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SSSP pesos positivos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180504"/>
            <a:ext cx="20116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393192" y="329023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31720" y="3180504"/>
            <a:ext cx="18288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2404872" y="3290232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O(b^d) worst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60520" y="3180504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4233672" y="3290232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O(b^d)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49240" y="3180504"/>
            <a:ext cx="3474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5422392" y="329023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objetivo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3710856"/>
            <a:ext cx="201168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393192" y="382058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331720" y="3710856"/>
            <a:ext cx="182880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Text 45"/>
          <p:cNvSpPr/>
          <p:nvPr/>
        </p:nvSpPr>
        <p:spPr>
          <a:xfrm>
            <a:off x="2404872" y="3820584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O(VE)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60520" y="3710856"/>
            <a:ext cx="1188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4233672" y="3820584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49240" y="3710856"/>
            <a:ext cx="3474720" cy="484632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49"/>
          <p:cNvSpPr/>
          <p:nvPr/>
        </p:nvSpPr>
        <p:spPr>
          <a:xfrm>
            <a:off x="5422392" y="382058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SSSP cualquier peso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4241208"/>
            <a:ext cx="20116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393192" y="435093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Edmonds-Karp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331720" y="4241208"/>
            <a:ext cx="18288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2404872" y="4350936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O(VE²)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160520" y="4241208"/>
            <a:ext cx="1188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7" name="Text 55"/>
          <p:cNvSpPr/>
          <p:nvPr/>
        </p:nvSpPr>
        <p:spPr>
          <a:xfrm>
            <a:off x="4233672" y="4350936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O(V²)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49240" y="4241208"/>
            <a:ext cx="34747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7"/>
          <p:cNvSpPr/>
          <p:nvPr/>
        </p:nvSpPr>
        <p:spPr>
          <a:xfrm>
            <a:off x="5422392" y="435093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máximo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 = factor de ramificación, d = profundidad de la solución</a:t>
            </a:r>
            <a:endParaRPr lang="en-US" sz="1050" b="1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C2072186-B381-484D-9E33-E5AD86269B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VARIANTES DE A*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IDA* (Iterative Deepening)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O(b^d)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menos memoria, ideal para espacios de búsqueda grandes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SMA* (Simplified Memory-bounded)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con límite de memoria, olvida nodos menos prometedores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(Dynamic A*)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O(k·V log V)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Replanifica cuando el entorno cambia, usado en robótica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caminos en cualquier ángulo, más suaves que A*</a:t>
            </a:r>
            <a:endParaRPr lang="en-US" sz="12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DB9B9F6-D5CE-4219-B84A-B0A2EEA5CE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JUMP POINT SEARCH (JPS)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A* para grillas uniformes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expandir todos los vecinos, "salta" directamente a puntos de interés (esquinas, obstáculos). Hasta 10x más rápido que A* estándar.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1097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Identificar "jump points" donde la dirección de búsqueda debe cambiar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Saltar líneas rectas sin expandir nodos intermedios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Mantener optimalidad y admisibilidad de A*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Muy usado en videojuegos modernos (RTS, RPG)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JPS reduce drásticamente el número de nodos en la open list, manteniendo la misma solución óptima que A*.</a:t>
            </a:r>
            <a:endParaRPr lang="en-US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720D072-083A-482E-9BC6-7BC93FD119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DE DINIC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Edmonds-Karp: O(V²E) en lugar de O(VE²)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grafos con capacidades unitarias: O(E√V) — muy eficiente para bipartite matching.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del algoritmo: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Construir grafo de niveles usando BFS (level graph)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Encontrar flujo bloqueante usando DFS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Repetir hasta que no exista camino s→t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30352" y="3822192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749040"/>
            <a:ext cx="1828800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816352" y="3822192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Complejidad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4114800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645152" y="3822192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33088"/>
            <a:ext cx="22860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530352" y="4206240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4133088"/>
            <a:ext cx="18288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816352" y="4206240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O(VE²)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133088"/>
            <a:ext cx="41148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645152" y="42062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generales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1713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30352" y="4590288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4517136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2816352" y="4590288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O(V²E)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517136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645152" y="4590288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densos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901184"/>
            <a:ext cx="22860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530352" y="4974336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Dinic (unit cap)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4901184"/>
            <a:ext cx="18288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2816352" y="4974336"/>
            <a:ext cx="1682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O(E√V)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901184"/>
            <a:ext cx="4114800" cy="365760"/>
          </a:xfrm>
          <a:prstGeom prst="rect">
            <a:avLst/>
          </a:prstGeom>
          <a:solidFill>
            <a:srgbClr val="BBDEFB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4645152" y="4974336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</a:t>
            </a:r>
            <a:endParaRPr lang="en-US" sz="10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E8F5BAC-5FCD-4724-AEEF-7FA61EE2B8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FRECUENTES DEL EXAMEN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1124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¿Por qué Dijkstra no funciona con pesos negativos?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Porque asume que una vez visitado un nodo, su distancia es final. Un peso negativo podría encontrar un camino más corto después.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¿Qué hace que una heurística sea admisible?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Nunca sobrestima el costo real: h(n) ≤ h*(n) para todo nodo 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¿Cuál es la diferencia entre BFS y Dijkstra?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BFS encuentra el camino con menos aristas; Dijkstra encuentra el de menor peso total.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BBDEFB"/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¿Qué garantiza el teorema Max-Flow Min-Cut?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El flujo máximo = capacidad del corte mínimo.</a:t>
            </a:r>
            <a:endParaRPr lang="en-US" sz="12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01EB1E1-944C-4FF0-ABBA-DBCB4DCEAA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47A1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PARCIAL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 — Examen de Bloques 1 y 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del Parcial: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Análisis Asintótico (O, Ω, Θ)  •  Divide y Vencerás  •  Programación Dinámica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Algoritmos Greedy  •  Algoritmos de Grafos (BFS, DFS, Dijkstra, A*, Flujo)</a:t>
            </a:r>
            <a:endParaRPr lang="en-US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21D8C2D-E5D9-43E3-89E0-E4C3102BA3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976D2">
              <a:alpha val="7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6F00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Grafos — Dijkstra, A* y Flujo Máximo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3017520"/>
            <a:ext cx="5486400" cy="13716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2011680" y="32004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mcalderon@esan.edu.pe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ESAN University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Semestre 2026-1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6512F96-D316-4D17-BF06-DD22432FA5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9" t="24814" r="10649" b="34445"/>
          <a:stretch/>
        </p:blipFill>
        <p:spPr>
          <a:xfrm>
            <a:off x="7972350" y="192677"/>
            <a:ext cx="897330" cy="3056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5367</Words>
  <Application>Microsoft Office PowerPoint</Application>
  <PresentationFormat>Presentación en pantalla (16:9)</PresentationFormat>
  <Paragraphs>772</Paragraphs>
  <Slides>49</Slides>
  <Notes>48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4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y Diseño de Algoritmos - Semana 7</dc:title>
  <dc:subject>Algoritmos de Grafos — Dijkstra, A* y Flujo Máximo</dc:subject>
  <dc:creator>Marks Calderón Niquin</dc:creator>
  <cp:lastModifiedBy>Marks Calderon Niquin</cp:lastModifiedBy>
  <cp:revision>7</cp:revision>
  <dcterms:created xsi:type="dcterms:W3CDTF">2026-03-10T17:41:25Z</dcterms:created>
  <dcterms:modified xsi:type="dcterms:W3CDTF">2026-05-20T17:42:13Z</dcterms:modified>
</cp:coreProperties>
</file>